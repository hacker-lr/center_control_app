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D4C5A9"/>
                </a:solidFill>
              </a:defRPr>
            </a:pPr>
            <a:r>
              <a:t>中控系统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B949E"/>
                </a:solidFill>
              </a:defRPr>
            </a:pPr>
            <a:r>
              <a:t>基于 Flutter 的跨平台设备集中控制系统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B949E"/>
                </a:solidFill>
              </a:defRPr>
            </a:pPr>
            <a:r>
              <a:t>v1.0.0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C5A9"/>
                </a:solidFill>
              </a:defRPr>
            </a:pPr>
            <a:r>
              <a:t>系统概述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029200" cy="14630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C5A9"/>
                </a:solidFill>
              </a:defRPr>
            </a:pPr>
            <a:r>
              <a:t>跨平台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</a:defRPr>
            </a:pPr>
            <a:r>
              <a:t>基于 Flutter 开发，一套代码同时支持 Android、iOS、Web 及桌面端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029200" cy="14630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C5A9"/>
                </a:solidFill>
              </a:defRPr>
            </a:pPr>
            <a:r>
              <a:t>双协议通信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3774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</a:defRPr>
            </a:pPr>
            <a:r>
              <a:t>支持 TCP 和 UDP 两种网络协议，每种设备可独立选择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5029200" cy="14630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C5A9"/>
                </a:solidFill>
              </a:defRPr>
            </a:pPr>
            <a:r>
              <a:t>品牌配置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</a:defRPr>
            </a:pPr>
            <a:r>
              <a:t>内置多种设备品牌模板，选择品牌后自动填充协议、端口和指令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029200" cy="14630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4048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C5A9"/>
                </a:solidFill>
              </a:defRPr>
            </a:pPr>
            <a:r>
              <a:t>持久化存储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2062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</a:defRPr>
            </a:pPr>
            <a:r>
              <a:t>所有配置参数自动保存到本地，重启后保持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C5A9"/>
                </a:solidFill>
              </a:defRPr>
            </a:pPr>
            <a:r>
              <a:t>四大设备控制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39"/>
              </a:spcAft>
              <a:defRPr sz="2400">
                <a:solidFill>
                  <a:srgbClr val="D4C5A9"/>
                </a:solidFill>
              </a:defRPr>
            </a:pPr>
            <a:r>
              <a:t>✓ ⚡ 时序电源控制：远程开关、TCP/UDP 双协议、状态反馈</a:t>
            </a:r>
          </a:p>
          <a:p>
            <a:pPr>
              <a:spcAft>
                <a:spcPts val="1439"/>
              </a:spcAft>
              <a:defRPr sz="2400">
                <a:solidFill>
                  <a:srgbClr val="D4C5A9"/>
                </a:solidFill>
              </a:defRPr>
            </a:pPr>
            <a:r>
              <a:t>✓ 📺 大屏拼接器控制：分屏切换、可视化预览、输入绑定</a:t>
            </a:r>
          </a:p>
          <a:p>
            <a:pPr>
              <a:spcAft>
                <a:spcPts val="1439"/>
              </a:spcAft>
              <a:defRPr sz="2400">
                <a:solidFill>
                  <a:srgbClr val="D4C5A9"/>
                </a:solidFill>
              </a:defRPr>
            </a:pPr>
            <a:r>
              <a:t>✓ 🎬 视频矩阵控制：输入/输出绑定、长按改名、分页显示</a:t>
            </a:r>
          </a:p>
          <a:p>
            <a:pPr>
              <a:spcAft>
                <a:spcPts val="1439"/>
              </a:spcAft>
              <a:defRPr sz="2400">
                <a:solidFill>
                  <a:srgbClr val="D4C5A9"/>
                </a:solidFill>
              </a:defRPr>
            </a:pPr>
            <a:r>
              <a:t>✓ 📹 摄像头控制：Sony VISCA 协议、云台控制、预置位管理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C5A9"/>
                </a:solidFill>
              </a:defRPr>
            </a:pPr>
            <a:r>
              <a:t>核心交互特性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029200" cy="14630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C5A9"/>
                </a:solidFill>
              </a:defRPr>
            </a:pPr>
            <a:r>
              <a:t>长按改名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</a:defRPr>
            </a:pPr>
            <a:r>
              <a:t>视频矩阵、摄像头按钮均支持长按 2 秒触发重命名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029200" cy="14630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C5A9"/>
                </a:solidFill>
              </a:defRPr>
            </a:pPr>
            <a:r>
              <a:t>实时状态同步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3774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</a:defRPr>
            </a:pPr>
            <a:r>
              <a:t>多页面共享矩阵状态，通过 ChangeNotifier 实时同步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5029200" cy="14630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C5A9"/>
                </a:solidFill>
              </a:defRPr>
            </a:pPr>
            <a:r>
              <a:t>自动重连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</a:defRPr>
            </a:pPr>
            <a:r>
              <a:t>设备断线后自动重连，带心跳检测机制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029200" cy="14630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4048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C5A9"/>
                </a:solidFill>
              </a:defRPr>
            </a:pPr>
            <a:r>
              <a:t>响应式布局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2062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</a:defRPr>
            </a:pPr>
            <a:r>
              <a:t>自适应手机、平板、桌面设备，支持横竖屏切换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C5A9"/>
                </a:solidFill>
              </a:defRPr>
            </a:pPr>
            <a:r>
              <a:t>调试配置系统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B949E"/>
                </a:solidFill>
              </a:defRPr>
            </a:pPr>
            <a:r>
              <a:t>长按顶部标题"欢迎使用中控"进入配置页面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D4C5A9"/>
                </a:solidFill>
              </a:defRPr>
            </a:pPr>
            <a:r>
              <a:t>✓ 1. 设备参数配置：修改所有受控设备的 IP 地址、端口号、通信协议</a:t>
            </a:r>
          </a:p>
          <a:p>
            <a:pPr>
              <a:spcAft>
                <a:spcPts val="1000"/>
              </a:spcAft>
              <a:defRPr sz="2000">
                <a:solidFill>
                  <a:srgbClr val="D4C5A9"/>
                </a:solidFill>
              </a:defRPr>
            </a:pPr>
            <a:r>
              <a:t>✓ 2. 品牌选择：选择设备品牌后自动填充协议、端口和控制指令</a:t>
            </a:r>
          </a:p>
          <a:p>
            <a:pPr>
              <a:spcAft>
                <a:spcPts val="1000"/>
              </a:spcAft>
              <a:defRPr sz="2000">
                <a:solidFill>
                  <a:srgbClr val="D4C5A9"/>
                </a:solidFill>
              </a:defRPr>
            </a:pPr>
            <a:r>
              <a:t>✓ 3. 通道数量设置：自定义矩阵输入/输出通道数、摄像机个数、预置位数量</a:t>
            </a:r>
          </a:p>
          <a:p>
            <a:pPr>
              <a:spcAft>
                <a:spcPts val="1000"/>
              </a:spcAft>
              <a:defRPr sz="2000">
                <a:solidFill>
                  <a:srgbClr val="D4C5A9"/>
                </a:solidFill>
              </a:defRPr>
            </a:pPr>
            <a:r>
              <a:t>✓ 4. 页面显示开关：控制各功能页面的显示/隐藏，按需启用控制模块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C5A9"/>
                </a:solidFill>
              </a:defRPr>
            </a:pPr>
            <a:r>
              <a:t>技术架构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011680"/>
            <a:ext cx="2926080" cy="16459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C5A9"/>
                </a:solidFill>
              </a:defRPr>
            </a:pPr>
            <a:r>
              <a:t>Flutter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</a:defRPr>
            </a:pPr>
            <a:r>
              <a:t>跨平台 UI 框架</a:t>
            </a:r>
            <a:br/>
            <a:r>
              <a:t>Dart 语言开发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011680"/>
            <a:ext cx="2926080" cy="16459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C5A9"/>
                </a:solidFill>
              </a:defRPr>
            </a:pPr>
            <a:r>
              <a:t>TCP/UDP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74320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</a:defRPr>
            </a:pPr>
            <a:r>
              <a:t>双协议网络通信</a:t>
            </a:r>
            <a:br/>
            <a:r>
              <a:t>支持 ASCII/Hex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011680"/>
            <a:ext cx="2926080" cy="16459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1945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C5A9"/>
                </a:solidFill>
              </a:defRPr>
            </a:pPr>
            <a:r>
              <a:t>SharedPreferences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74320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</a:defRPr>
            </a:pPr>
            <a:r>
              <a:t>本地持久化存储</a:t>
            </a:r>
            <a:br/>
            <a:r>
              <a:t>配置自动保存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389120"/>
            <a:ext cx="2194560" cy="914400"/>
          </a:xfrm>
          <a:prstGeom prst="roundRect">
            <a:avLst/>
          </a:prstGeom>
          <a:solidFill>
            <a:srgbClr val="1F4068"/>
          </a:solidFill>
          <a:ln>
            <a:solidFill>
              <a:srgbClr val="1F4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4C5A9"/>
                </a:solidFill>
              </a:defRPr>
            </a:pPr>
            <a:r>
              <a:t>Flutter App</a:t>
            </a:r>
          </a:p>
          <a:p>
            <a:pPr algn="ctr">
              <a:defRPr sz="1000">
                <a:solidFill>
                  <a:srgbClr val="8B949E"/>
                </a:solidFill>
              </a:defRPr>
            </a:pPr>
            <a:r>
              <a:t>UI 交互层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663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E6B48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4389120"/>
            <a:ext cx="2194560" cy="914400"/>
          </a:xfrm>
          <a:prstGeom prst="roundRect">
            <a:avLst/>
          </a:prstGeom>
          <a:solidFill>
            <a:srgbClr val="1F4068"/>
          </a:solidFill>
          <a:ln>
            <a:solidFill>
              <a:srgbClr val="1F4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44805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4C5A9"/>
                </a:solidFill>
              </a:defRPr>
            </a:pPr>
            <a:r>
              <a:t>DeviceConfig</a:t>
            </a:r>
          </a:p>
          <a:p>
            <a:pPr algn="ctr">
              <a:defRPr sz="1000">
                <a:solidFill>
                  <a:srgbClr val="8B949E"/>
                </a:solidFill>
              </a:defRPr>
            </a:pPr>
            <a:r>
              <a:t>配置中心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663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E6B48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4389120"/>
            <a:ext cx="2194560" cy="914400"/>
          </a:xfrm>
          <a:prstGeom prst="roundRect">
            <a:avLst/>
          </a:prstGeom>
          <a:solidFill>
            <a:srgbClr val="1F4068"/>
          </a:solidFill>
          <a:ln>
            <a:solidFill>
              <a:srgbClr val="1F4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4805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4C5A9"/>
                </a:solidFill>
              </a:defRPr>
            </a:pPr>
            <a:r>
              <a:t>BaseConnection</a:t>
            </a:r>
          </a:p>
          <a:p>
            <a:pPr algn="ctr">
              <a:defRPr sz="1000">
                <a:solidFill>
                  <a:srgbClr val="8B949E"/>
                </a:solidFill>
              </a:defRPr>
            </a:pPr>
            <a:r>
              <a:t>网络连接层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663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E6B48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4389120"/>
            <a:ext cx="2194560" cy="914400"/>
          </a:xfrm>
          <a:prstGeom prst="roundRect">
            <a:avLst/>
          </a:prstGeom>
          <a:solidFill>
            <a:srgbClr val="1F4068"/>
          </a:solidFill>
          <a:ln>
            <a:solidFill>
              <a:srgbClr val="1F4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44805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4C5A9"/>
                </a:solidFill>
              </a:defRPr>
            </a:pPr>
            <a:r>
              <a:t>硬件设备</a:t>
            </a:r>
          </a:p>
          <a:p>
            <a:pPr algn="ctr">
              <a:defRPr sz="1000">
                <a:solidFill>
                  <a:srgbClr val="8B949E"/>
                </a:solidFill>
              </a:defRPr>
            </a:pPr>
            <a:r>
              <a:t>电源/矩阵/大屏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C5A9"/>
                </a:solidFill>
              </a:defRPr>
            </a:pPr>
            <a:r>
              <a:t>功能清单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  <a:defRPr sz="1800">
                <a:solidFill>
                  <a:srgbClr val="D4C5A9"/>
                </a:solidFill>
              </a:defRPr>
            </a:pPr>
            <a:r>
              <a:t>✓ 时序电源远程开关控制（TCP/UDP 双协议）</a:t>
            </a:r>
          </a:p>
          <a:p>
            <a:pPr>
              <a:spcAft>
                <a:spcPts val="630"/>
              </a:spcAft>
              <a:defRPr sz="1800">
                <a:solidFill>
                  <a:srgbClr val="D4C5A9"/>
                </a:solidFill>
              </a:defRPr>
            </a:pPr>
            <a:r>
              <a:t>✓ 大屏拼接器分屏模式切换（全屏/二分/三分/四分/五分）</a:t>
            </a:r>
          </a:p>
          <a:p>
            <a:pPr>
              <a:spcAft>
                <a:spcPts val="630"/>
              </a:spcAft>
              <a:defRPr sz="1800">
                <a:solidFill>
                  <a:srgbClr val="D4C5A9"/>
                </a:solidFill>
              </a:defRPr>
            </a:pPr>
            <a:r>
              <a:t>✓ 视频矩阵输入/输出通道绑定与分页显示</a:t>
            </a:r>
          </a:p>
          <a:p>
            <a:pPr>
              <a:spcAft>
                <a:spcPts val="630"/>
              </a:spcAft>
              <a:defRPr sz="1800">
                <a:solidFill>
                  <a:srgbClr val="D4C5A9"/>
                </a:solidFill>
              </a:defRPr>
            </a:pPr>
            <a:r>
              <a:t>✓ 摄像头云台控制与预置位管理（Sony VISCA 协议）</a:t>
            </a:r>
          </a:p>
          <a:p>
            <a:pPr>
              <a:spcAft>
                <a:spcPts val="630"/>
              </a:spcAft>
              <a:defRPr sz="1800">
                <a:solidFill>
                  <a:srgbClr val="D4C5A9"/>
                </a:solidFill>
              </a:defRPr>
            </a:pPr>
            <a:r>
              <a:t>✓ 设备品牌配置（协议/端口/指令自动填充）</a:t>
            </a:r>
          </a:p>
          <a:p>
            <a:pPr>
              <a:spcAft>
                <a:spcPts val="630"/>
              </a:spcAft>
              <a:defRPr sz="1800">
                <a:solidFill>
                  <a:srgbClr val="D4C5A9"/>
                </a:solidFill>
              </a:defRPr>
            </a:pPr>
            <a:r>
              <a:t>✓ 页面显示开关控制（按需启用功能模块）</a:t>
            </a:r>
          </a:p>
          <a:p>
            <a:pPr>
              <a:spcAft>
                <a:spcPts val="630"/>
              </a:spcAft>
              <a:defRPr sz="1800">
                <a:solidFill>
                  <a:srgbClr val="D4C5A9"/>
                </a:solidFill>
              </a:defRPr>
            </a:pPr>
            <a:r>
              <a:t>✓ 通道/预置位长按改名（文字自适应缩放）</a:t>
            </a:r>
          </a:p>
          <a:p>
            <a:pPr>
              <a:spcAft>
                <a:spcPts val="630"/>
              </a:spcAft>
              <a:defRPr sz="1800">
                <a:solidFill>
                  <a:srgbClr val="D4C5A9"/>
                </a:solidFill>
              </a:defRPr>
            </a:pPr>
            <a:r>
              <a:t>✓ 调试配置页面（IP/端口/通道数/预置位数）</a:t>
            </a:r>
          </a:p>
          <a:p>
            <a:pPr>
              <a:spcAft>
                <a:spcPts val="630"/>
              </a:spcAft>
              <a:defRPr sz="1800">
                <a:solidFill>
                  <a:srgbClr val="D4C5A9"/>
                </a:solidFill>
              </a:defRPr>
            </a:pPr>
            <a:r>
              <a:t>✓ 自动重连与心跳检测（断线自动恢复）</a:t>
            </a:r>
          </a:p>
          <a:p>
            <a:pPr>
              <a:spcAft>
                <a:spcPts val="630"/>
              </a:spcAft>
              <a:defRPr sz="1800">
                <a:solidFill>
                  <a:srgbClr val="D4C5A9"/>
                </a:solidFill>
              </a:defRPr>
            </a:pPr>
            <a:r>
              <a:t>✓ 响应式布局（自适应手机/平板/桌面）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D4C5A9"/>
                </a:solidFill>
              </a:defRPr>
            </a:pPr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949E"/>
                </a:solidFill>
              </a:defRPr>
            </a:pPr>
            <a:r>
              <a:t>中控系统 App v1.0.0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B949E"/>
                </a:solidFill>
              </a:defRPr>
            </a:pPr>
            <a:r>
              <a:t>技术栈：Flutter + Dart + TCP/UDP + SharedPreferences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